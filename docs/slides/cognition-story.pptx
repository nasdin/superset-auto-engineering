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f0cd9207144270" /><Relationship Type="http://schemas.openxmlformats.org/officeDocument/2006/relationships/extended-properties" Target="/docProps/app.xml" Id="R4b9c9e5f8af54e3e" /><Relationship Type="http://schemas.openxmlformats.org/officeDocument/2006/relationships/officeDocument" Target="/ppt/presentation.xml" Id="R4c161f110ae346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32b217f955474a"/>
  </p:sldMasterIdLst>
  <p:notesMasterIdLst>
    <p:notesMasterId xmlns:r="http://schemas.openxmlformats.org/officeDocument/2006/relationships" r:id="Ra78f25b105d947f3"/>
  </p:notesMasterIdLst>
  <p:sldIdLst>
    <p:sldId xmlns:r="http://schemas.openxmlformats.org/officeDocument/2006/relationships" id="256" r:id="Re337e1edf98e44c5"/>
    <p:sldId xmlns:r="http://schemas.openxmlformats.org/officeDocument/2006/relationships" id="257" r:id="R55e23e0435124faf"/>
    <p:sldId xmlns:r="http://schemas.openxmlformats.org/officeDocument/2006/relationships" id="258" r:id="Rab02846009c34e1c"/>
    <p:sldId xmlns:r="http://schemas.openxmlformats.org/officeDocument/2006/relationships" id="259" r:id="Rf3b5437772a14474"/>
    <p:sldId xmlns:r="http://schemas.openxmlformats.org/officeDocument/2006/relationships" id="260" r:id="R6bd576adca8f433a"/>
    <p:sldId xmlns:r="http://schemas.openxmlformats.org/officeDocument/2006/relationships" id="261" r:id="Rbc3910aba6ed4dce"/>
    <p:sldId xmlns:r="http://schemas.openxmlformats.org/officeDocument/2006/relationships" id="262" r:id="Rca911736308a4c34"/>
    <p:sldId xmlns:r="http://schemas.openxmlformats.org/officeDocument/2006/relationships" id="263" r:id="Rebe0cd48ba9140cb"/>
    <p:sldId xmlns:r="http://schemas.openxmlformats.org/officeDocument/2006/relationships" id="264" r:id="Rdbadf7c662c24a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7b5e6e5234441c" /><Relationship Type="http://schemas.openxmlformats.org/officeDocument/2006/relationships/slideMaster" Target="/ppt/slideMasters/slideMaster1.xml" Id="R7432b217f955474a" /><Relationship Type="http://schemas.openxmlformats.org/officeDocument/2006/relationships/notesMaster" Target="/ppt/notesMasters/notesMaster1.xml" Id="Ra78f25b105d947f3" /><Relationship Type="http://schemas.openxmlformats.org/officeDocument/2006/relationships/presProps" Target="/ppt/presProps.xml" Id="R7dba1057a50e4bba" /><Relationship Type="http://schemas.openxmlformats.org/officeDocument/2006/relationships/tableStyles" Target="/ppt/tableStyles.xml" Id="R2efd52058b624543" /><Relationship Type="http://schemas.openxmlformats.org/officeDocument/2006/relationships/slide" Target="/ppt/slides/slide1.xml" Id="Re337e1edf98e44c5" /><Relationship Type="http://schemas.openxmlformats.org/officeDocument/2006/relationships/slide" Target="/ppt/slides/slide2.xml" Id="R55e23e0435124faf" /><Relationship Type="http://schemas.openxmlformats.org/officeDocument/2006/relationships/slide" Target="/ppt/slides/slide3.xml" Id="Rab02846009c34e1c" /><Relationship Type="http://schemas.openxmlformats.org/officeDocument/2006/relationships/slide" Target="/ppt/slides/slide4.xml" Id="Rf3b5437772a14474" /><Relationship Type="http://schemas.openxmlformats.org/officeDocument/2006/relationships/slide" Target="/ppt/slides/slide5.xml" Id="R6bd576adca8f433a" /><Relationship Type="http://schemas.openxmlformats.org/officeDocument/2006/relationships/slide" Target="/ppt/slides/slide6.xml" Id="Rbc3910aba6ed4dce" /><Relationship Type="http://schemas.openxmlformats.org/officeDocument/2006/relationships/slide" Target="/ppt/slides/slide7.xml" Id="Rca911736308a4c34" /><Relationship Type="http://schemas.openxmlformats.org/officeDocument/2006/relationships/slide" Target="/ppt/slides/slide8.xml" Id="Rebe0cd48ba9140cb" /><Relationship Type="http://schemas.openxmlformats.org/officeDocument/2006/relationships/slide" Target="/ppt/slides/slide9.xml" Id="Rdbadf7c662c24a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2b6e6d9ee8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c9c774c2594573" /><Relationship Type="http://schemas.openxmlformats.org/officeDocument/2006/relationships/notesMaster" Target="/ppt/notesMasters/notesMaster1.xml" Id="R632a5b9a551b4c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77966f803649a6" /><Relationship Type="http://schemas.openxmlformats.org/officeDocument/2006/relationships/notesMaster" Target="/ppt/notesMasters/notesMaster1.xml" Id="Rfbad1da54d684d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e0770e11de42b0" /><Relationship Type="http://schemas.openxmlformats.org/officeDocument/2006/relationships/notesMaster" Target="/ppt/notesMasters/notesMaster1.xml" Id="Ra2342daf6ae14c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82dc539f4941c9" /><Relationship Type="http://schemas.openxmlformats.org/officeDocument/2006/relationships/notesMaster" Target="/ppt/notesMasters/notesMaster1.xml" Id="Rab11a5be4c4f4f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5d0a71787f444f" /><Relationship Type="http://schemas.openxmlformats.org/officeDocument/2006/relationships/notesMaster" Target="/ppt/notesMasters/notesMaster1.xml" Id="R64f55fad721a43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56359ef6f74453" /><Relationship Type="http://schemas.openxmlformats.org/officeDocument/2006/relationships/notesMaster" Target="/ppt/notesMasters/notesMaster1.xml" Id="Rdea6f918b7bf45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f050a13359473a" /><Relationship Type="http://schemas.openxmlformats.org/officeDocument/2006/relationships/notesMaster" Target="/ppt/notesMasters/notesMaster1.xml" Id="R8935246e7a3a45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4b8e97a55243dc" /><Relationship Type="http://schemas.openxmlformats.org/officeDocument/2006/relationships/notesMaster" Target="/ppt/notesMasters/notesMaster1.xml" Id="R84a514a840744e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62cce5d80b49b5" /><Relationship Type="http://schemas.openxmlformats.org/officeDocument/2006/relationships/notesMaster" Target="/ppt/notesMasters/notesMaster1.xml" Id="Rdec5a97e47d04b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design. Implemented contract and limits are documented in docs/DEPENDABOT.md.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docs/analysis/summary.json; public metadata snapshot backend/app/seeds/github-history.sqlite3, captured 2026-09-20. Reproduce with scripts/analyze_repository.py. GitHub https://github.com/apache/superset/pulls. Merge-date cohorts in UTC; classifications are retrospective title/label signals, not reviewed ground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docs/analysis/summary.json; public metadata snapshot backend/app/seeds/github-history.sqlite3, captured 2026-09-20. Reproduce with scripts/analyze_repository.py. GitHub https://github.com/apache/superset/pulls. Merge-date cohorts in UTC; classifications are retrospective title/label signals, not reviewed ground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docs/analysis/summary.json; public metadata snapshot backend/app/seeds/github-history.sqlite3, captured 2026-09-20. Reproduce with scripts/analyze_repository.py. GitHub https://github.com/apache/superset/pulls. Merge-date cohorts in UTC; classifications are retrospective title/label signals, not reviewed ground truth. Commit data: docs/analysis/commits.json and commit-classification.csv. Pinned SHA 4511c1381930ec53cd74c1e25c3ad4397768e2b4; first 120 GitHub API records, captured 2026-09-20. No merge commits in this sample. Commit classification has title/author only, no PR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docs/analysis/summary.json; public metadata snapshot backend/app/seeds/github-history.sqlite3, captured 2026-09-20. Reproduce with scripts/analyze_repository.py. GitHub https://github.com/apache/superset/pulls. Merge-date cohorts in UTC; classifications are retrospective title/label signals, not reviewed ground truth. Sampling: docs/analysis/pr-commit-sample.json, seed 42 within each stratum. Retained commits counted using GitHub PR commits API, capped 100. Committer timestamp later than PR creation is not proof of human rework. Rebase/squash/force-push may erase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docs/analysis/summary.json; public metadata snapshot backend/app/seeds/github-history.sqlite3, captured 2026-09-20. Reproduce with scripts/analyze_repository.py. GitHub https://github.com/apache/superset/pulls. Merge-date cohorts in UTC; classifications are retrospective title/label signals, not reviewed ground truth. Recent 2026-08-21 to 2026-09-19. Baseline 2026-02-18 to 2026-03-19 (six calendar months earlier). Sample sizes recent/baseline: all806/333, dependency274/121, fix371/140, feature73/41. Observational, not causal; no claimed Cognition effect.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backend/app/automation/dependencies.py, validation.py, outbox.py. GitHub events: https://docs.github.com/en/webhooks/webhook-events-and-payloads . GitHub may synchronize/rebase Dependabot PRs; duplicate and stale events must be handled.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design. Implemented contract and limits are documented in docs/DEPENDABOT.md.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design. Implemented contract and limits are documented in docs/DEPENDABOT.md.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b24e6602c4a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576e285cb44569" /><Relationship Type="http://schemas.openxmlformats.org/officeDocument/2006/relationships/slideLayout" Target="/ppt/slideLayouts/slideLayout1.xml" Id="Rb2e9beeab8b64c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e9beeab8b64c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c387d8b144903" /><Relationship Type="http://schemas.openxmlformats.org/officeDocument/2006/relationships/notesSlide" Target="/ppt/notesSlides/notesSlide1.xml" Id="R98c03eabf53f46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1f5ff82b74697" /><Relationship Type="http://schemas.openxmlformats.org/officeDocument/2006/relationships/chart" Target="/ppt/slides/charts/chart1.xml" Id="R4925746254af4e3d" /><Relationship Type="http://schemas.openxmlformats.org/officeDocument/2006/relationships/notesSlide" Target="/ppt/notesSlides/notesSlide2.xml" Id="R56cb747f76054c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198d8a1104da9" /><Relationship Type="http://schemas.openxmlformats.org/officeDocument/2006/relationships/chart" Target="/ppt/slides/charts/chart2.xml" Id="R38f6e7ccd77c433c" /><Relationship Type="http://schemas.openxmlformats.org/officeDocument/2006/relationships/notesSlide" Target="/ppt/notesSlides/notesSlide3.xml" Id="R6a3a26c9c80740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7761826f54110" /><Relationship Type="http://schemas.openxmlformats.org/officeDocument/2006/relationships/chart" Target="/ppt/slides/charts/chart3.xml" Id="R20451bb6a43b4bb7" /><Relationship Type="http://schemas.openxmlformats.org/officeDocument/2006/relationships/notesSlide" Target="/ppt/notesSlides/notesSlide4.xml" Id="R16cba859a49e44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2316b5bcb4cc3" /><Relationship Type="http://schemas.openxmlformats.org/officeDocument/2006/relationships/notesSlide" Target="/ppt/notesSlides/notesSlide5.xml" Id="R5fb5021c09ea4c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d0fe9fc2d4510" /><Relationship Type="http://schemas.openxmlformats.org/officeDocument/2006/relationships/chart" Target="/ppt/slides/charts/chart4.xml" Id="R77fc457a27be403c" /><Relationship Type="http://schemas.openxmlformats.org/officeDocument/2006/relationships/notesSlide" Target="/ppt/notesSlides/notesSlide6.xml" Id="R438eb93eb58648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c87ea68824b7c" /><Relationship Type="http://schemas.openxmlformats.org/officeDocument/2006/relationships/notesSlide" Target="/ppt/notesSlides/notesSlide7.xml" Id="R54065468867b4d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31e5c00724ad8" /><Relationship Type="http://schemas.openxmlformats.org/officeDocument/2006/relationships/notesSlide" Target="/ppt/notesSlides/notesSlide8.xml" Id="R08eb3627401e42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3b23859494e3a" /><Relationship Type="http://schemas.openxmlformats.org/officeDocument/2006/relationships/notesSlide" Target="/ppt/notesSlides/notesSlide9.xml" Id="R2d990e5a30d943f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Merged PRs</c:v>
          </c:tx>
          <c:spPr>
            <a:solidFill xmlns:a="http://schemas.openxmlformats.org/drawingml/2006/main">
              <a:srgbClr val="397657"/>
            </a:solidFill>
          </c:spPr>
          <c:cat>
            <c:strRef>
              <c:f>'Chart Data'!$A$2:$A$4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767</c:v>
                </c:pt>
                <c:pt idx="1">
                  <c:v>854</c:v>
                </c:pt>
                <c:pt idx="2">
                  <c:v>772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5F0"/>
        </a:solidFill>
      </c:spPr>
    </c:plotArea>
    <c:plotVisOnly val="1"/>
  </c:chart>
  <c:spPr>
    <a:solidFill xmlns:a="http://schemas.openxmlformats.org/drawingml/2006/main">
      <a:srgbClr val="F6F5F0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PRs</c:v>
          </c:tx>
          <c:spPr>
            <a:solidFill xmlns:a="http://schemas.openxmlformats.org/drawingml/2006/main">
              <a:srgbClr val="397657"/>
            </a:solidFill>
          </c:spPr>
          <c:cat>
            <c:strRef>
              <c:f>'Chart Data'!$A$2:$A$6</c:f>
              <c:strCache>
                <c:ptCount val="5"/>
                <c:pt idx="0">
                  <c:v>Dependencies</c:v>
                </c:pt>
                <c:pt idx="1">
                  <c:v>Fixes</c:v>
                </c:pt>
                <c:pt idx="2">
                  <c:v>Features</c:v>
                </c:pt>
                <c:pt idx="3">
                  <c:v>Other</c:v>
                </c:pt>
                <c:pt idx="4">
                  <c:v>Reverts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301</c:v>
                </c:pt>
                <c:pt idx="1">
                  <c:v>315</c:v>
                </c:pt>
                <c:pt idx="2">
                  <c:v>74</c:v>
                </c:pt>
                <c:pt idx="3">
                  <c:v>81</c:v>
                </c:pt>
                <c:pt idx="4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5F0"/>
        </a:solidFill>
      </c:spPr>
    </c:plotArea>
    <c:plotVisOnly val="1"/>
  </c:chart>
  <c:spPr>
    <a:solidFill xmlns:a="http://schemas.openxmlformats.org/drawingml/2006/main">
      <a:srgbClr val="F6F5F0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Commits</c:v>
          </c:tx>
          <c:spPr>
            <a:solidFill xmlns:a="http://schemas.openxmlformats.org/drawingml/2006/main">
              <a:srgbClr val="397657"/>
            </a:solidFill>
          </c:spPr>
          <c:cat>
            <c:strRef>
              <c:f>'Chart Data'!$A$2:$A$5</c:f>
              <c:strCache>
                <c:ptCount val="4"/>
                <c:pt idx="0">
                  <c:v>Fix</c:v>
                </c:pt>
                <c:pt idx="1">
                  <c:v>Dependency</c:v>
                </c:pt>
                <c:pt idx="2">
                  <c:v>Other</c:v>
                </c:pt>
                <c:pt idx="3">
                  <c:v>Feature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59</c:v>
                </c:pt>
                <c:pt idx="1">
                  <c:v>41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5F0"/>
        </a:solidFill>
      </c:spPr>
    </c:plotArea>
    <c:plotVisOnly val="1"/>
  </c:chart>
  <c:spPr>
    <a:solidFill xmlns:a="http://schemas.openxmlformats.org/drawingml/2006/main">
      <a:srgbClr val="F6F5F0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Six months earlier</c:v>
          </c:tx>
          <c:spPr>
            <a:solidFill xmlns:a="http://schemas.openxmlformats.org/drawingml/2006/main">
              <a:srgbClr val="B49B6D"/>
            </a:solidFill>
          </c:spPr>
          <c:cat>
            <c:strRef>
              <c:f>'Chart Data'!$A$2:$A$5</c:f>
              <c:strCache>
                <c:ptCount val="4"/>
                <c:pt idx="0">
                  <c:v>All PRs</c:v>
                </c:pt>
                <c:pt idx="1">
                  <c:v>Dependencies</c:v>
                </c:pt>
                <c:pt idx="2">
                  <c:v>Fixes</c:v>
                </c:pt>
                <c:pt idx="3">
                  <c:v>Features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25.3</c:v>
                </c:pt>
                <c:pt idx="1">
                  <c:v>11.7</c:v>
                </c:pt>
                <c:pt idx="2">
                  <c:v>69.3</c:v>
                </c:pt>
                <c:pt idx="3">
                  <c:v>151.7</c:v>
                </c:pt>
              </c:numCache>
            </c:numRef>
          </c:val>
        </c:ser>
        <c:ser>
          <c:idx val="1"/>
          <c:order val="1"/>
          <c:tx>
            <c:v>Recent</c:v>
          </c:tx>
          <c:spPr>
            <a:solidFill xmlns:a="http://schemas.openxmlformats.org/drawingml/2006/main">
              <a:srgbClr val="397657"/>
            </a:solidFill>
          </c:spPr>
          <c:cat>
            <c:strRef>
              <c:f>'Chart Data'!$C$2:$C$5</c:f>
              <c:strCache>
                <c:ptCount val="4"/>
                <c:pt idx="0">
                  <c:v>All PRs</c:v>
                </c:pt>
                <c:pt idx="1">
                  <c:v>Dependencies</c:v>
                </c:pt>
                <c:pt idx="2">
                  <c:v>Fixes</c:v>
                </c:pt>
                <c:pt idx="3">
                  <c:v>Features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25.3</c:v>
                </c:pt>
                <c:pt idx="1">
                  <c:v>7.5</c:v>
                </c:pt>
                <c:pt idx="2">
                  <c:v>78.3</c:v>
                </c:pt>
                <c:pt idx="3">
                  <c:v>98.3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5F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6F5F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8E891-2982-454C-B278-04931F09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01 / THE PRODUCT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93D72-DFA6-4BC2-A718-B28BA5F1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Give engineers a reason</a:t>
            </a:r>
          </a:p>
          <a:p xmlns:a="http://schemas.openxmlformats.org/drawingml/2006/main">
            <a:pPr>
              <a:def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to trust the merge.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C3447-C6E8-4605-AA0B-E1D0369A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Autonomous Superset engineering, with evidence for the exact code being reviewed.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608EB-93A5-47C4-820B-7B848219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COGNITION  /  SUPERSET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F700E-7317-457F-B410-FAABC2BF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0DDBA-E1F8-4E36-B5CF-E458BB60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CDD15-8BD6-4915-872D-305B9188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Understand the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DEFDD-FDEB-43BF-AAC1-C3756148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Measure real PRs and commits.</a:t>
            </a:r>
          </a:p>
          <a:p xmlns:a="http://schemas.openxmlformats.org/drawingml/2006/main">
            <a:pPr>
              <a:def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Separate fixes, features and dependencies.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62459-C9F5-468E-911D-5F74BA43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38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EXECUTE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1E6BC-3BC8-4950-B766-04CB57BF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433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Bound the autonomy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64C2A-F12C-4ACC-8560-B79E9D9B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005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Let Devin work in the fork.</a:t>
            </a:r>
          </a:p>
          <a:p xmlns:a="http://schemas.openxmlformats.org/drawingml/2006/main">
            <a:pPr>
              <a:def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Keep sessions, scope and spend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D9A47-3E2C-4815-85C3-BCBC9AD0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E45A8-033B-4622-A4B4-55666A04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43325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Show the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C02DA-88B7-47FF-9A41-1E2E40FA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005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Validate in a fresh session.</a:t>
            </a:r>
          </a:p>
          <a:p xmlns:a="http://schemas.openxmlformats.org/drawingml/2006/main">
            <a:pPr>
              <a:def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Put the proof beside the PR.</a:t>
            </a:r>
          </a:p>
        </p:txBody>
      </p:sp>
    </p:spTree>
    <p:extLst>
      <p:ext uri="{BB962C8B-B14F-4D97-AF65-F5344CB8AC3E}">
        <p14:creationId xmlns:p14="http://schemas.microsoft.com/office/powerpoint/2010/main" val="416550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E4A4E-96EF-4A58-B9C3-A687554F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02 / REPOSITORY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4B1E3-99A0-4B88-A3F4-7F6015DB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A steady stream of work to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29775-723D-4F5C-A746-60D99AA2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Superset merged 767–854 PRs in each of the last three complete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DCDDD-4146-4C7C-86BB-7CBA5453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COGNITION  /  SUPERSET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06615-D67F-4622-843E-28CC3599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47700" y="2705100"/>
          <a:ext xmlns:a="http://schemas.openxmlformats.org/drawingml/2006/main" cx="7239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25746254af4e3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7B6E2-C536-433E-9B8B-FF4535AA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rPr>
              <a:t>528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8156A-6548-4CDE-9513-C615FEB9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386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merged in Sep 1–19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8C2D5-4402-4AEF-9E1B-CB4C9167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1490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Partial month. Do not compare</a:t>
            </a:r>
          </a:p>
          <a:p xmlns:a="http://schemas.openxmlformats.org/drawingml/2006/main">
            <a:pPr>
              <a:def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its total with a full month.</a:t>
            </a:r>
          </a:p>
        </p:txBody>
      </p:sp>
    </p:spTree>
    <p:extLst>
      <p:ext uri="{BB962C8B-B14F-4D97-AF65-F5344CB8AC3E}">
        <p14:creationId xmlns:p14="http://schemas.microsoft.com/office/powerpoint/2010/main" val="12762009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74062-45FB-4DCB-9538-55ABC9D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03 / AUGUST 2026 • 772 MERGED PRS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E1CE3-66FA-476F-9DD4-1F3A0B83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Dependencies and fixes dominate the signal.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5CAF2-2484-49A7-A293-9BFF8740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301 dependency changes + 315 fixes = 79.8% of the August merge cohort.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F3DCD-2FF3-43F3-9AC7-034A7A81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COGNITION  /  SUPERSET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097DC-429E-48B2-A6FF-4F6ABF4B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47700" y="2705100"/>
          <a:ext xmlns:a="http://schemas.openxmlformats.org/drawingml/2006/main" cx="7762875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f6e7ccd77c433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BAFF2-A873-4530-B1CA-DAAB8CC0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146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rPr>
              <a:t>267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EE0DA-3398-487B-B96B-19CEE24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957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authored by Dependabot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1FE96-924E-4880-9862-7CC9DBB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958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34.6% of all August PRs.</a:t>
            </a:r>
          </a:p>
          <a:p xmlns:a="http://schemas.openxmlformats.org/drawingml/2006/main">
            <a:pPr>
              <a:defRPr sz="16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Bot identity and change type</a:t>
            </a:r>
          </a:p>
          <a:p xmlns:a="http://schemas.openxmlformats.org/drawingml/2006/main">
            <a:pPr>
              <a:defRPr sz="16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are separate attributes.</a:t>
            </a:r>
          </a:p>
        </p:txBody>
      </p:sp>
    </p:spTree>
    <p:extLst>
      <p:ext uri="{BB962C8B-B14F-4D97-AF65-F5344CB8AC3E}">
        <p14:creationId xmlns:p14="http://schemas.microsoft.com/office/powerpoint/2010/main" val="242359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27945-A116-49E9-93CE-65D9D810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04 / COMMIT-LEVEL CROSS-CHECK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E6D6B-A463-4CDD-AEA0-1C1082BA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120 recent commits. Every row is traceable.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812BD-E7E0-4B2E-8AC1-899703C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Pinned at 4511c1381930 · an exploratory sample, not a calendar-period census.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6A047-AEDE-4661-A294-A31A1F2F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COGNITION  /  SUPERSET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492D1-15A8-46DD-BFA0-90CF1945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47700" y="2705100"/>
          <a:ext xmlns:a="http://schemas.openxmlformats.org/drawingml/2006/main" cx="7239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451bb6a43b4bb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00532-F892-44BC-9D00-CEF5E405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1467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65AFE-32EF-4892-ADA1-121D8103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957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by Dependabot</a:t>
            </a:r>
          </a:p>
          <a:p xmlns:a="http://schemas.openxmlformats.org/drawingml/2006/main">
            <a:pPr>
              <a:def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in this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EFFD8-F5B8-4C9B-A6BE-3432D12F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9112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A squash commit can hide</a:t>
            </a:r>
          </a:p>
          <a:p xmlns:a="http://schemas.openxmlformats.org/drawingml/2006/main">
            <a:pPr>
              <a:defRPr sz="16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several rounds of revision.</a:t>
            </a:r>
          </a:p>
        </p:txBody>
      </p:sp>
    </p:spTree>
    <p:extLst>
      <p:ext uri="{BB962C8B-B14F-4D97-AF65-F5344CB8AC3E}">
        <p14:creationId xmlns:p14="http://schemas.microsoft.com/office/powerpoint/2010/main" val="600094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A98AB-E94E-43B1-99E0-B47B5361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05 / FOLLOW-UP WORK • STRATIFIED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C7155-C7DF-4497-9069-FCF897E6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A merge does not show the whole journey.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C2727-D210-4F9B-911A-E6C6D977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12 August PRs: three each from Dependabot, fixes, features and other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0F67B-A8A9-4FD1-ACE5-8EB444D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COGNITION  /  SUPERSET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F7612-F967-4A4E-B53D-2ECA8D5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FA7BF-2E22-4D90-A2D0-F054B202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66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7DD8E-14E8-487A-8FB6-BC3888B6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retain multiple commits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79AF8-BD72-4A47-93A9-FD37ABD0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466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rPr>
              <a:t>7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DEAAB-1217-4657-9F69-C78684D9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have commits dated after opening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A79AB-4669-41DE-A602-044E443E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Commit dates can reflect rebases or branch syncs. PR #42053 reaches the 100-commit API cap.</a:t>
            </a:r>
          </a:p>
          <a:p xmlns:a="http://schemas.openxmlformats.org/drawingml/2006/main">
            <a:pPr>
              <a:def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This small, balanced sample does not estimate engineering hours or population-wide rework.</a:t>
            </a:r>
          </a:p>
        </p:txBody>
      </p:sp>
    </p:spTree>
    <p:extLst>
      <p:ext uri="{BB962C8B-B14F-4D97-AF65-F5344CB8AC3E}">
        <p14:creationId xmlns:p14="http://schemas.microsoft.com/office/powerpoint/2010/main" val="1724692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62DBB-0E1A-4F26-A99D-DD58D8D8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06 / MEASURE CHANGE OVER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84A52-0661-4F32-BB87-E163FAEE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Time to merge needs comparable cohorts.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EEC9F-C913-4683-8457-866A4830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Median elapsed hours from PR creation to merge. Two equal 30-day windows.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73BAB-F868-4BEE-BC3B-B994FBD7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COGNITION  /  SUPERSET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44A67-E3AC-4973-BE20-689E285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7700" y="2705100"/>
          <a:ext xmlns:a="http://schemas.openxmlformats.org/drawingml/2006/main" cx="10572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fc457a27be403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53BF1-084F-4761-ACAB-0ABB4AD3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Recent N: 806 / 274 / 371 / 73     Baseline N: 333 / 121 / 140 / 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563C7-944F-4E32-B53D-FAF91CAD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rPr>
              <a:t>Historical differences are not evidence that our automation caused an improvement.</a:t>
            </a:r>
          </a:p>
        </p:txBody>
      </p:sp>
    </p:spTree>
    <p:extLst>
      <p:ext uri="{BB962C8B-B14F-4D97-AF65-F5344CB8AC3E}">
        <p14:creationId xmlns:p14="http://schemas.microsoft.com/office/powerpoint/2010/main" val="212296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F9ECE-9ACF-46B3-86B9-F3168F41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07 / DEPENDABOT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51F9D-87EE-471E-802A-5B3B706A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Keep the original PR. Add an evidence trail.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1AAA1-03B9-457C-B792-A1010B01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Events start bounded work in the fork; a human retains the merge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BA58E-E820-41FB-8283-7B425AFC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COGNITION  /  SUPERSET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43921-4876-47E3-95AE-D4B891B3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C2777-AC9F-4CFF-A641-8A043674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1952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2"/>
          </a:solidFill>
          <a:ln xmlns:a="http://schemas.openxmlformats.org/drawingml/2006/main" w="9525">
            <a:solidFill>
              <a:srgbClr val="397657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Dependabot PR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DD3A2-0110-44D7-BE37-9BF5685C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Signed event + live PR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885BC-10A2-4BC0-93A8-B9685654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90875"/>
            <a:ext cx="1952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2"/>
          </a:solidFill>
          <a:ln xmlns:a="http://schemas.openxmlformats.org/drawingml/2006/main" w="9525">
            <a:solidFill>
              <a:srgbClr val="397657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Devin preparation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87F2F-4D7C-440B-BA1A-4CBF61A0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3815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Repair and test the same branch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92597-61CF-4EBE-B0B4-9269D0AB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90875"/>
            <a:ext cx="1952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2"/>
          </a:solidFill>
          <a:ln xmlns:a="http://schemas.openxmlformats.org/drawingml/2006/main" w="9525">
            <a:solidFill>
              <a:srgbClr val="397657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Fresh validator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5CDC7-382F-4DB3-824B-09B2F10E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815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Run Superset at the final SHA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C35B9-1339-447B-AA8E-71D1E244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90875"/>
            <a:ext cx="1952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E2"/>
          </a:solidFill>
          <a:ln xmlns:a="http://schemas.openxmlformats.org/drawingml/2006/main" w="9525">
            <a:solidFill>
              <a:srgbClr val="397657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PR +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7D4A9-B247-4F5E-96E5-0F15BF6B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815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Screenshots, video, logs,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89569-278E-4EF4-AC3E-650D8426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90875"/>
            <a:ext cx="1952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657"/>
          </a:solidFill>
          <a:ln xmlns:a="http://schemas.openxmlformats.org/drawingml/2006/main" w="9525">
            <a:solidFill>
              <a:srgbClr val="397657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Engineer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EBDF8-5A23-4509-948E-5892A1E5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815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Inspect evidence and merge</a:t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00325" y="36576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657"/>
            </a:solidFill>
            <a:tail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38700" y="36576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657"/>
            </a:solidFill>
            <a:tail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77075" y="36576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657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15450" y="36576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657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2F0C1-51CA-4420-B436-70F07DFC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864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rPr>
              <a:t>A changed head makes prior validation stale. Duplicate events do not start another paid session.</a:t>
            </a:r>
          </a:p>
        </p:txBody>
      </p:sp>
    </p:spTree>
    <p:extLst>
      <p:ext uri="{BB962C8B-B14F-4D97-AF65-F5344CB8AC3E}">
        <p14:creationId xmlns:p14="http://schemas.microsoft.com/office/powerpoint/2010/main" val="277081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A554C-5FC1-41F1-8400-51875EF5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08 / THE EVIDENCE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90A21-E531-4F35-92ED-D401FB33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“Ready for review” must mean something.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11A63-EC2A-402D-BDAC-1C1D0A33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Evidence belongs to one immutable candidate and one independent validation session.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7279E-71E2-49E7-B1D6-E6FC9FEA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COGNITION  /  SUPERSET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89BA7-B983-4D72-947A-EAB75770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F904A-72D6-4EF3-AD71-76D26882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C56D0-9AE6-4690-BBA0-95CDA505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Revision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1E332-02B7-4C9F-97F6-30AF4AB4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38450"/>
            <a:ext cx="642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PR number + exact candidate SHA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9566A-79BE-4019-9251-A80649C9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09C75-92FF-404F-B6FB-6A6BAF84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7ED96-C44A-4024-9BB5-75CABFEE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642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Superset services + database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3C950-F249-495B-A305-1B22BF74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377D5-917F-4BF4-94CD-D869006B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Journey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A5FCA-0DF0-4A1D-A657-D9282088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62450"/>
            <a:ext cx="642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Computer-driven browser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6C6EF-148C-4482-9015-D3655424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00912-0137-40F7-9395-4743FCF5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244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AD9C7-8CC2-48DC-9FEC-356DBC3E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24450"/>
            <a:ext cx="642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Screenshot, video, logs + test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925F8-634A-4FC5-8917-6EDE3035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rPr>
              <a:t>Provider-confirmed artifacts • no synthetic acceptance evidence • human merge only</a:t>
            </a:r>
          </a:p>
        </p:txBody>
      </p:sp>
    </p:spTree>
    <p:extLst>
      <p:ext uri="{BB962C8B-B14F-4D97-AF65-F5344CB8AC3E}">
        <p14:creationId xmlns:p14="http://schemas.microsoft.com/office/powerpoint/2010/main" val="674754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DAAD9-1E05-425E-A577-B16E7D19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09 / DELIVERY &amp; THE NEXT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43436-EF7A-4E90-B082-625E59B4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A runnable system, with visible limits.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B9F6B-7C30-4589-9FFA-06FA65BF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Simple FastAPI + React monorepo. SQLite state. Three Docker services.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C2451-7395-485B-BDC0-2D45173F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56B"/>
                </a:solidFill>
                <a:latin typeface="Helvetica Neue"/>
                <a:ea typeface="Helvetica Neue"/>
                <a:cs typeface="Helvetica Neue"/>
              </a:rPr>
              <a:t>COGNITION  /  SUPERSET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6CE23-7B1A-4ABD-8840-77822012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90A01-12AC-45B6-8A99-7225A992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97657"/>
                </a:solidFill>
                <a:latin typeface="Helvetica Neue"/>
                <a:ea typeface="Helvetica Neue"/>
                <a:cs typeface="Helvetica Neue"/>
              </a:rPr>
              <a:t>Available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3D055-6B32-4900-9913-3B487659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429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Real GitHub history and sliding comparisons</a:t>
            </a:r>
          </a:p>
          <a:p xmlns:a="http://schemas.openxmlformats.org/drawingml/2006/main">
            <a:pPr>
              <a:defRPr sz="2025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Separate upstream analytics and fork execution</a:t>
            </a:r>
          </a:p>
          <a:p xmlns:a="http://schemas.openxmlformats.org/drawingml/2006/main">
            <a:pPr>
              <a:defRPr sz="2025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Durable jobs, independent gate and report outbox</a:t>
            </a:r>
          </a:p>
          <a:p xmlns:a="http://schemas.openxmlformats.org/drawingml/2006/main">
            <a:pPr>
              <a:defRPr sz="2025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PR evidence and Dependabot review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03632-999A-4469-95CF-57784A02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051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C603E"/>
                </a:solidFill>
                <a:latin typeface="Helvetica Neue"/>
                <a:ea typeface="Helvetica Neue"/>
                <a:cs typeface="Helvetica Neue"/>
              </a:rPr>
              <a:t>Next acceptance 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F7F9A-3C20-473A-96BE-13CAB05F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67125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Dependabot PR #6 is queued in the fork.</a:t>
            </a:r>
          </a:p>
          <a:p xmlns:a="http://schemas.openxmlformats.org/drawingml/2006/main">
            <a:pPr>
              <a:defRPr sz="1950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The existing validator is paused at its 10-ACU cap.</a:t>
            </a:r>
          </a:p>
          <a:p xmlns:a="http://schemas.openxmlformats.org/drawingml/2006/main">
            <a:pPr>
              <a:defRPr sz="1950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That attention state holds the shared queue.</a:t>
            </a:r>
          </a:p>
          <a:p xmlns:a="http://schemas.openxmlformats.org/drawingml/2006/main">
            <a:pPr>
              <a:defRPr sz="1950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352C"/>
                </a:solidFill>
                <a:latin typeface="Helvetica Neue"/>
                <a:ea typeface="Helvetica Neue"/>
                <a:cs typeface="Helvetica Neue"/>
              </a:rPr>
              <a:t>No end-to-end Dependabot pass claimed yet.</a:t>
            </a:r>
          </a:p>
        </p:txBody>
      </p:sp>
    </p:spTree>
    <p:extLst>
      <p:ext uri="{BB962C8B-B14F-4D97-AF65-F5344CB8AC3E}">
        <p14:creationId xmlns:p14="http://schemas.microsoft.com/office/powerpoint/2010/main" val="1768076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2026-09-20T04:39:21.9380000Z</dcterms:created>
  <dcterms:modified xsi:type="dcterms:W3CDTF">2026-09-20T04:39:21.9380000Z</dcterms:modified>
</coreProperties>
</file>